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65176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E1F2"/>
                </a:solidFill>
                <a:latin typeface="Calibri"/>
              </a:rPr>
              <a:t>UNIVERSITY OF BUEA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E1F2"/>
                </a:solidFill>
                <a:latin typeface="Calibri"/>
              </a:rPr>
              <a:t>Department of Computer Engineering –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CAMEROON MALNUTRITION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9E1F2"/>
                </a:solidFill>
                <a:latin typeface="Calibri"/>
              </a:rPr>
              <a:t>A Data Mining Approach to Predicting and Mapping Child Stunting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SEPO PERRY-BRADLEY DINGA  |  CT23A145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9E1F2"/>
                </a:solidFill>
                <a:latin typeface="Calibri"/>
              </a:rPr>
              <a:t>CEC 420 – Data Mining  |  2025 /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9E1F2"/>
                </a:solidFill>
                <a:latin typeface="Calibri"/>
              </a:rPr>
              <a:t>Powered by CRISP-DM  •  XGBoost  •  K-Means  •  Spearman Tests  •  Next.js Webapp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93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02536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093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CRISP-DM Methodology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0632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25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862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Data Sources &amp; Dataset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38728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630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06824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361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98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Data Preparation &amp; Feature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297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Regression Modelling — 10 Models Compared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23444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2893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Hypothesis Testing — H1 through H6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002536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093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Classification — WHO Risk Bands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70632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825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862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Clustering Analysis — K-Means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538728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630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Forecasting to 2026 / 2028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06824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361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398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Hotspot Rankings &amp; Deployment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074920"/>
            <a:ext cx="4572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1297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Key Findings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The Challenge: Child Stunting in Cameroon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3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2560320" cy="13716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National Stunting Rate
(DHS 2018)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43000"/>
            <a:ext cx="2560320" cy="13716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37.9%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Far North Region
(Highest, 2018)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2560320" cy="13716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15.4%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Littoral Region
(Lowest, 2018)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143000"/>
            <a:ext cx="2560320" cy="13716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 Light"/>
              </a:rPr>
              <a:t>22.5pp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North–South Gap
(Percentage 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Why does this matter?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Stunting in the first 1,000 days causes irreversible cognitive deficits and perpetuates intergenerational poverty.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The national 29% average conceals a 22.5 pp north-south gap — resources must be geographically targeted.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The Ministry of Public Health needs a principled, data-driven method for prioritising districts.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▸ This project builds the 'Cameroon Malnutrition Atlas' — a CRISP-DM pipeline that produces ranked targeting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CRISP-DM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Cross-Industry Standard Process for Data Mining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383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1: Business
Understanding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Define targets, hypotheses H1-H6, success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80160"/>
            <a:ext cx="3383280" cy="54864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2: Data
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28800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6596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Source DHS/MICS, WHO, HDX datasets — 50 obs × 20 cols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280160"/>
            <a:ext cx="338328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325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3: Data
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96596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Clean, impute, engineer 4 composite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3383280" cy="5486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947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4: Modelling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97679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10 regression + 2 classification + K-Means + linear 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749039"/>
            <a:ext cx="3383280" cy="5486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7947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5: 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297679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434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5-fold CV, hypothesis tests, business criteria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749039"/>
            <a:ext cx="3383280" cy="5486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79475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6: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4297679"/>
            <a:ext cx="3383280" cy="17373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43484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Hotspot CSV + best_model.joblib + Next.js web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2377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377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Five Datasets from HDX / DHS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228600" cy="150876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DHS / MICS Surveys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Stunting, wasting, maternal health, WASH
5 waves: 1991, 1998, 2004, 2011, 2018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28600" cy="1508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WHO Health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175564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Malaria prevalence, child anaemia, health insurance
Matched to survey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228600" cy="150876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81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Cameroon Admin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472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GeoJSON for choropleth visualisation
10 administrative regions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97180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71800"/>
            <a:ext cx="228600" cy="150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3081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Health Facility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4472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OpenStreetMap facility counts per region
Current coverage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754880"/>
            <a:ext cx="5577840" cy="1508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754880"/>
            <a:ext cx="228600" cy="150876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864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Population Density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23036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WorldPop 2020 high-resolution rasters
Regional population weighting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→  All sources publicly available from HDX (data.humdata.org) — no DUA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Analysis-Ready Wide Table: 50 rows × 20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691640" cy="11887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Region-Year
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188720"/>
            <a:ext cx="1691640" cy="11887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Cameroon
Regions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1691640" cy="11887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Survey
Waves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1691640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Raw
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188720"/>
            <a:ext cx="1691640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Engineered
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188720"/>
            <a:ext cx="1691640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26187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874519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Target
(stunting_rate)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Feature Groups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017520"/>
            <a:ext cx="365760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0540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Maternal Education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340156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women_secondary_plus_pct
women_literate_pct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017520"/>
            <a:ext cx="365760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30540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79" y="340156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improved_water_pct
improved_sanitation_pct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3017520"/>
            <a:ext cx="365760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05409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Healthcare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40156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antenatal_4plus_pct
skilled_birth_attendance_pct
health_facility_delivery_pct
health_insurance_any_pct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3657600" cy="3474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7000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Disease Burden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504748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malaria_prevalence_pct
child_anemia_pct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663440"/>
            <a:ext cx="3657600" cy="3474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47000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Nutrition Siblings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04748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wasting_pct
underweight_pct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4663440"/>
            <a:ext cx="3657600" cy="3474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47000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Engineered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504748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wash_composite
maternal_health_score
education_score
disease_burden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Target Distribution — Stunting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7 / 22</a:t>
            </a:r>
          </a:p>
        </p:txBody>
      </p:sp>
      <p:pic>
        <p:nvPicPr>
          <p:cNvPr id="9" name="Picture 8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7150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1: Distribution of Stunting Rate (all 50 region-year obs.)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Key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Range: 15.4% (Littoral 2018) → 45.7% (Far North peak)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Mean ≈ 30% — at the WHO 'high' risk threshold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~40% of observations exceed the 30% WHO action level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Slight right skew — extreme northern observations pull the tail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Clear bimodal tendency: northern cluster (35-40%) vs southern cluster (20-25%)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937760"/>
            <a:ext cx="521208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3366"/>
                </a:solidFill>
                <a:latin typeface="Calibri"/>
              </a:rPr>
              <a:t>WHO Risk Thresholds:  Low &lt; 20%  |  Medium 20–29%  |  High 30–39%  |  Critical ≥ 40%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Regional Patterns — North-South Gradient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8 / 22</a:t>
            </a:r>
          </a:p>
        </p:txBody>
      </p:sp>
      <p:pic>
        <p:nvPicPr>
          <p:cNvPr id="9" name="Picture 8" descr="02_regi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13232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71500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2: Stunting Rate by Region (median-sorted boxplot, 1991–2018)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North-South Gradient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9164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691640"/>
            <a:ext cx="164592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746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7465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Calibri"/>
              </a:rPr>
              <a:t>37.9%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9456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194560"/>
            <a:ext cx="164592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94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North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2494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Calibri"/>
              </a:rPr>
              <a:t>37.2%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69748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2697480"/>
            <a:ext cx="164592" cy="411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7523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Adamawa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7523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900"/>
                </a:solidFill>
                <a:latin typeface="Calibri"/>
              </a:rPr>
              <a:t>36.5%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20040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3200400"/>
            <a:ext cx="164592" cy="411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3255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East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32552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900"/>
                </a:solidFill>
                <a:latin typeface="Calibri"/>
              </a:rPr>
              <a:t>32.1%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70332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3703320"/>
            <a:ext cx="164592" cy="41148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758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West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37581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5B5"/>
                </a:solidFill>
                <a:latin typeface="Calibri"/>
              </a:rPr>
              <a:t>27.4%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20624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4206240"/>
            <a:ext cx="164592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426110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Centre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4261103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000"/>
                </a:solidFill>
                <a:latin typeface="Calibri"/>
              </a:rPr>
              <a:t>21.8%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709160"/>
            <a:ext cx="3200400" cy="411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709160"/>
            <a:ext cx="164592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Littoral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47640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000"/>
                </a:solidFill>
                <a:latin typeface="Calibri"/>
              </a:rPr>
              <a:t>15.4%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349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Calibri"/>
              </a:rPr>
              <a:t>⬆ Critical / High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000"/>
                </a:solidFill>
                <a:latin typeface="Calibri"/>
              </a:rPr>
              <a:t>⬇ Low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Correlation Heatmap — Feature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9 / 22</a:t>
            </a:r>
          </a:p>
        </p:txBody>
      </p:sp>
      <p:pic>
        <p:nvPicPr>
          <p:cNvPr id="9" name="Picture 8" descr="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8064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3: Spearman Correlation Heatmap (features vs stunting 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Top Correlations with Stunting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64592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7190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health_facility_delivery_pct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0000"/>
                </a:solidFill>
                <a:latin typeface="Calibri"/>
              </a:rPr>
              <a:t>ρ = −0.78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24028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3134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SES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0000"/>
                </a:solidFill>
                <a:latin typeface="Calibri"/>
              </a:rPr>
              <a:t>ρ = −0.71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283464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9077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women_secondary_plus_pct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9077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7900"/>
                </a:solidFill>
                <a:latin typeface="Calibri"/>
              </a:rPr>
              <a:t>ρ = −0.54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42900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502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wash_composite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350215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7900"/>
                </a:solidFill>
                <a:latin typeface="Calibri"/>
              </a:rPr>
              <a:t>ρ = −0.50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02336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0965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malaria_prevalence_pct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409651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75B5"/>
                </a:solidFill>
                <a:latin typeface="Calibri"/>
              </a:rPr>
              <a:t>ρ = +0.36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17720"/>
            <a:ext cx="4389120" cy="502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6908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  <a:latin typeface="Calibri"/>
              </a:rPr>
              <a:t>child_anemia_pct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469087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75B5"/>
                </a:solidFill>
                <a:latin typeface="Calibri"/>
              </a:rPr>
              <a:t>ρ = +0.29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4864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66"/>
                </a:solidFill>
                <a:latin typeface="Calibri"/>
              </a:rPr>
              <a:t>→ Healthcare access is the dominant correlate
   Education &amp; WASH follow closely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Cleaning → Imputation →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23444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271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1  Type Coercion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581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Cast all % columns to float64; year to 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0312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945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10312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139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2  De-duplication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5059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Resolve duplicate region-year-indicator rows from overlapping survey rounds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0632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297180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008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3  Name Normalisation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3192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Lookup table maps 25+ DHS region label variants to 10 canonical names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0479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319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3840479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8770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4  Mega-region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8795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1991/1998 large regions broadcast to all constituent sub-regions (flagged as imputed)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709160"/>
            <a:ext cx="640080" cy="6858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800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4709160"/>
            <a:ext cx="10789920" cy="6858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5  Missing Value Imputation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056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Level 1: region-year median  →  Level 2: global median for remaining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Engineered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wash_composite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Mean(improved_water, improved_sanitation)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maternal_health_score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Mean(antenatal_4plus, skilled_birth, facility_delivery)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9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education_score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59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Mean(literate_pct, secondary_plus_pct)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6053328"/>
            <a:ext cx="265176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60807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disease_burden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E1F2"/>
                </a:solidFill>
                <a:latin typeface="Calibri"/>
              </a:rPr>
              <a:t>Mean(malaria_prevalence, child_anemia)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Regression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Ten Models Evaluated with 5-Fold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CV RMSE (pp)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0200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550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XGBoost 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600200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6550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000"/>
                </a:solidFill>
                <a:latin typeface="Calibri"/>
              </a:rPr>
              <a:t>2.87 ± 0.70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91640"/>
            <a:ext cx="1098045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075688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1305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Random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075688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1305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8000"/>
                </a:solidFill>
                <a:latin typeface="Calibri"/>
              </a:rPr>
              <a:t>3.16 ± 0.93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67128"/>
            <a:ext cx="1208997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551176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06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551176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606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8000"/>
                </a:solidFill>
                <a:latin typeface="Calibri"/>
              </a:rPr>
              <a:t>3.19 ± 0.74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642616"/>
            <a:ext cx="1220475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026664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081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LightGBM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026664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0815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75B5"/>
                </a:solidFill>
                <a:latin typeface="Calibri"/>
              </a:rPr>
              <a:t>3.45 ± 0.88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118104"/>
            <a:ext cx="1319949" cy="2743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502152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5570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Decision 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502152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557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75B5"/>
                </a:solidFill>
                <a:latin typeface="Calibri"/>
              </a:rPr>
              <a:t>4.12 ± 1.21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593592"/>
            <a:ext cx="1576287" cy="2743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977639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325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Ridge Regression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3977639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03250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7900"/>
                </a:solidFill>
                <a:latin typeface="Calibri"/>
              </a:rPr>
              <a:t>4.67 ± 0.95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4069079"/>
            <a:ext cx="1786714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453128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507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Lasso Regression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4453128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45079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7900"/>
                </a:solidFill>
                <a:latin typeface="Calibri"/>
              </a:rPr>
              <a:t>4.89 ± 1.03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4544568"/>
            <a:ext cx="1870885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4928616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983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Linear Regression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928616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4983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7900"/>
                </a:solidFill>
                <a:latin typeface="Calibri"/>
              </a:rPr>
              <a:t>5.14 ± 1.18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5020056"/>
            <a:ext cx="1966533" cy="2743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5404104"/>
            <a:ext cx="50292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458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K-Nearest Neighbours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5404104"/>
            <a:ext cx="3200400" cy="438912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54589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  <a:latin typeface="Calibri"/>
              </a:rPr>
              <a:t>5.78 ± 1.44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5495544"/>
            <a:ext cx="2211394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5879592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93445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Baseline (mean) 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5879592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0" y="593445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  <a:latin typeface="Calibri"/>
              </a:rPr>
              <a:t>7.17 ± 1.45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5971031"/>
            <a:ext cx="27432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000"/>
                </a:solidFill>
                <a:latin typeface="Calibri"/>
              </a:rPr>
              <a:t>XGBoost achieves 60% RMSE improvement over baseline  (p = 0.003)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Regression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Model Leaderboard &amp; Predicted vs Actual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12 / 22</a:t>
            </a:r>
          </a:p>
        </p:txBody>
      </p:sp>
      <p:pic>
        <p:nvPicPr>
          <p:cNvPr id="9" name="Picture 8" descr="06_model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85216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623559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5: 5-Fold CV RMSE — All 10 Models</a:t>
            </a:r>
          </a:p>
        </p:txBody>
      </p:sp>
      <p:pic>
        <p:nvPicPr>
          <p:cNvPr id="11" name="Picture 10" descr="09_predict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62355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12: Predicted vs Actual (Hold-out Test Set, XGBoost)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Feature Importance &amp; SHAP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What drives the XGBoost predictions?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13 / 22</a:t>
            </a:r>
          </a:p>
        </p:txBody>
      </p:sp>
      <p:pic>
        <p:nvPicPr>
          <p:cNvPr id="9" name="Picture 8" descr="07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6692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623559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6: Top 15 Features — XGBoost Gain Importance</a:t>
            </a:r>
          </a:p>
        </p:txBody>
      </p:sp>
      <p:pic>
        <p:nvPicPr>
          <p:cNvPr id="11" name="Picture 10" descr="08_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623559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7: SHAP Beeswarm — Observation-level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06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6"/>
                </a:solidFill>
                <a:latin typeface="Calibri"/>
              </a:rPr>
              <a:t>underweight_pct dominates (~0.78 SHAP)  |  Healthcare + Education + WASH ≈ 60% of remaining importance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All 6 Null Hypotheses Rejected at p &lt; 0.05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61188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H1: Maternal Education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5.66×10⁻⁵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61188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H2: WASH Composite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783080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9202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−0.501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2.12×10⁻⁴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361188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353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H3: SES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783080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−0.709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8.35×10⁻⁹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36118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H4: Healthcare Access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51959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−0.778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2.84×10⁻¹¹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749039"/>
            <a:ext cx="361188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H5: Malaria Prevalence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251959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ρ = +0.358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1.06×10⁻²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749039"/>
            <a:ext cx="361188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H6: ML Beats 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251959"/>
            <a:ext cx="3611880" cy="16916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Statistic: −60% RMSE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 = 0.003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00"/>
                </a:solidFill>
                <a:latin typeface="Calibri"/>
              </a:rPr>
              <a:t>Null rejected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WHO Risk Band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Assigning Regions to Low / Medium / High /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15 / 22</a:t>
            </a:r>
          </a:p>
        </p:txBody>
      </p:sp>
      <p:pic>
        <p:nvPicPr>
          <p:cNvPr id="9" name="Picture 8" descr="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9436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8064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8: Confusion Matrix — Random Forest Classifier (80% 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Risk Band Thresholds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91640"/>
            <a:ext cx="53035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Critical  →  Stunting ≥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331720"/>
            <a:ext cx="5303520" cy="5486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High  →  Stunting 30 – 39%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971800"/>
            <a:ext cx="5303520" cy="54864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Medium  →  Stunting 20 – 29%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611879"/>
            <a:ext cx="5303520" cy="5486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Low  →  Stunting &lt;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Model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Random Forest: 80% accuracy (best)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Logistic Regression: 73% accuracy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Errors confined to adjacent bands only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▸ No cross-two-band misclassifications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Clustering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K-Means Discovers Two Distinct Region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16 / 22</a:t>
            </a:r>
          </a:p>
        </p:txBody>
      </p:sp>
      <p:pic>
        <p:nvPicPr>
          <p:cNvPr id="9" name="Picture 8" descr="12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029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977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9: Elbow Curve — Choosing k=2</a:t>
            </a:r>
          </a:p>
        </p:txBody>
      </p:sp>
      <p:pic>
        <p:nvPicPr>
          <p:cNvPr id="11" name="Picture 10" descr="13_cluster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188720"/>
            <a:ext cx="64008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7840" y="397763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10: Clusters in PCA Space (k=2, silhouette=0.52)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160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Cluster Profiles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572000"/>
            <a:ext cx="566928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Cluster 0: Northern-rural (Critical Risk)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83480"/>
            <a:ext cx="5669280" cy="9144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474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North, North, Adamawa, East
Women Secondary+: 1.9%  |  Literate: 43.6%  |  Stunting: 37.0%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572000"/>
            <a:ext cx="566928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Cluster 1: Urban-affluent (Low Risk)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983480"/>
            <a:ext cx="5669280" cy="9144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474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Centre, Littoral, South, West, North-West, South-West
Women Secondary+: 10.3%  |  Literate: 87.2%  |  Stunting: 23.6%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Forecasting to 2026 /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Linear Time-Trend Extrapolation per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17 / 22</a:t>
            </a:r>
          </a:p>
        </p:txBody>
      </p:sp>
      <p:pic>
        <p:nvPicPr>
          <p:cNvPr id="9" name="Picture 8" descr="14_forecasts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685800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89787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11: Stunting Rate Forecasts — Top 5 Hotspot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Forecast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69164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691640"/>
            <a:ext cx="18288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Far 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0756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37.9%  →  2026: 37.8%  →  2028: 37.6%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1460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2514600"/>
            <a:ext cx="18288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North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986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37.2%  →  2026: 37.1%  →  2028: 36.9%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33756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337560"/>
            <a:ext cx="182880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Adamawa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216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36.5%  →  2026: 36.3%  →  2028: 36.1%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160520"/>
            <a:ext cx="4480560" cy="7315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4160520"/>
            <a:ext cx="182880" cy="7315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Littoral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5445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Now: 15.4%  →  2026: 15.3%  →  2028: 15.0%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5120640"/>
            <a:ext cx="448056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516636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Far North remains in 'high' WHO band through 2028+
at current improvement rate of −0.09 pp/year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Hotspot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Ranked Targeting Intelligence for Ministry of Public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18 / 22</a:t>
            </a:r>
          </a:p>
        </p:txBody>
      </p:sp>
      <p:pic>
        <p:nvPicPr>
          <p:cNvPr id="9" name="Picture 8" descr="10_hotspots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9436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8064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Figure 13: Top 15 Predicted Stunting Hotspots (2018, XGBoost scores)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Top Hotspot Regions (2018)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64208"/>
            <a:ext cx="3657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664208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1719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719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37.9%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17190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  <a:latin typeface="Calibri"/>
              </a:rP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203704"/>
            <a:ext cx="3657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585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203704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258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North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258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37.2%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2585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  <a:latin typeface="Calibri"/>
              </a:rPr>
              <a:t>Critical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743200"/>
            <a:ext cx="36576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980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743200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2798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Adamawa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7980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900"/>
                </a:solidFill>
                <a:latin typeface="Calibri"/>
              </a:rPr>
              <a:t>36.5%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7980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900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282696"/>
            <a:ext cx="36576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3375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3282696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3337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East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337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900"/>
                </a:solidFill>
                <a:latin typeface="Calibri"/>
              </a:rPr>
              <a:t>32.1%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337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900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822191"/>
            <a:ext cx="36576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877055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822191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2" y="387705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North West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387705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75B5"/>
                </a:solidFill>
                <a:latin typeface="Calibri"/>
              </a:rPr>
              <a:t>29.8%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87705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75B5"/>
                </a:solidFill>
                <a:latin typeface="Calibri"/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361688"/>
            <a:ext cx="36576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41655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4361688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44165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South West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41655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75B5"/>
                </a:solidFill>
                <a:latin typeface="Calibri"/>
              </a:rPr>
              <a:t>28.3%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41655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75B5"/>
                </a:solidFill>
                <a:latin typeface="Calibri"/>
              </a:rPr>
              <a:t>Medium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901184"/>
            <a:ext cx="36576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9560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4901184"/>
            <a:ext cx="4846320" cy="45720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4032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West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49560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75B5"/>
                </a:solidFill>
                <a:latin typeface="Calibri"/>
              </a:rPr>
              <a:t>27.4%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9560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75B5"/>
                </a:solidFill>
                <a:latin typeface="Calibri"/>
              </a:rPr>
              <a:t>Medium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Client-Side Web Application + Offline Artefacts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Web Application — 8 Interactive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4592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Home — KPIs, H1-H6 hypothesis strip, top-10 hotspots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Hotspots — Full regional stunting ranking table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What-If Predictor — Client-side inference (no server needed)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Regression — Interactive model leaderboard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Classification — Confusion matrix + per-class F1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Clustering — Cluster profiles + silhouette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Forecasts — Per-region trends + 2026/2028 projections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  <a:latin typeface="Calibri"/>
              </a:rPr>
              <a:t>▸ Hypotheses — H1-H6 cards with test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Tech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64208"/>
            <a:ext cx="3657600" cy="50292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Next.js 16 + React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58568"/>
            <a:ext cx="365760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TypeScript + Tailwind CSS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852928"/>
            <a:ext cx="3657600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Redux Toolkit (state)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447288"/>
            <a:ext cx="36576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Plotly.js (charts)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41648"/>
            <a:ext cx="36576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predict.ts (client inference)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636008"/>
            <a:ext cx="3657600" cy="5029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709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predictor.json (model export)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3366"/>
                </a:solidFill>
                <a:latin typeface="Calibri"/>
              </a:rPr>
              <a:t>→ Offline-capable: no server call for predictions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Five Evidence-Based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1. North-South Gradient is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Far North (37.9%), North (37.2%), Adamawa (36.5%) consistently dominate the hotspot list across all survey waves. The gap with southern regions exceeds 22 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57784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2. Healthcare Access Dominates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The strongest correlate of stunting is healthcare access (ρ = −0.78, p &lt; 10⁻¹⁰). Improving facility delivery and antenatal care is the highest-leverage single intervention.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5577840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3. ML Beats Baseline by 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9592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XGBoost achieves CV RMSE = 2.87 pp vs baseline 7.17 pp (p = 0.003), validating machine-learning for subnational malnutrition prediction.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429000"/>
            <a:ext cx="5577840" cy="4572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93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4. Two Distinct Clusters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557784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9592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K-Means (k=2, silhouette=0.52) finds a critical northern cluster (37% stunting) and a low-risk southern cluster (24%). Bundle interventions are needed in the north.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11430000" cy="4572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846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5. Insufficient Improvement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577840"/>
            <a:ext cx="11430000" cy="14173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87568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Linear forecasts show northern regions remain in WHO 'high'/'critical' band through 2028+. Accelerated, multi-sectoral action is urgently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9E1F2"/>
                </a:solidFill>
                <a:latin typeface="Calibri"/>
              </a:rPr>
              <a:t>Action Plan for the Ministry of Public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E1F2"/>
                </a:solidFill>
                <a:latin typeface="Calibri"/>
              </a:rPr>
              <a:t>Cameroon Malnutrition Atlas  |  CEC 420  |  SEPO PERRY-BRADLEY DINGA  |  CT23A145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6019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  <a:latin typeface="Calibri"/>
              </a:rPr>
              <a:t>Policy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320040" cy="7772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664208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09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900"/>
                </a:solidFill>
                <a:latin typeface="Calibri"/>
              </a:rPr>
              <a:t>Priority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7568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Concentrate first-wave investments on Far North, North, and Adamawa — all three appear in top-3 across every analytical lens.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60320"/>
            <a:ext cx="320040" cy="77724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7249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60320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060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5B5"/>
                </a:solidFill>
                <a:latin typeface="Calibri"/>
              </a:rPr>
              <a:t>Bundle Interventions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Cluster analysis shows high-risk regions suffer simultaneous deficits in education, WASH, and healthcare. Single-sector approaches are insufficient.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56432"/>
            <a:ext cx="32004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6210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456432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02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Calibri"/>
              </a:rPr>
              <a:t>Monitor Improvement Velocity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679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Regions with the slowest improvement slopes should receive disproportionately higher investment to close the north-south gap.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52544"/>
            <a:ext cx="320040" cy="7772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51713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52544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398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00"/>
                </a:solidFill>
                <a:latin typeface="Calibri"/>
              </a:rPr>
              <a:t>Use the What-If Predictor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6402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Train district health officers to simulate the impact of coverage improvements before committing intervention budgets.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48656"/>
            <a:ext cx="320040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41324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248656"/>
            <a:ext cx="11155680" cy="77724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943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Update with 2024/2025 DHS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01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Re-run the pipeline when the next DHS wave is published to validate forecasts and re-rank hotspots.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9424"/>
            <a:ext cx="12188952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35424"/>
            <a:ext cx="12188952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9E1F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Selected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[1] DHS Program. (2018). Cameroon DHS 2018. ICF International.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[2] Chen &amp; Guestrin. (2016). XGBoost. KDD '16.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[3] Chapman et al. (2000). CRISP-DM 1.0. SPSS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[4] WHO. (2014). Global Nutrition Targets 2025. WHO.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E1F2"/>
                </a:solidFill>
                <a:latin typeface="Calibri"/>
              </a:rPr>
              <a:t>[5] Humanitarian Data Exchange. (2024). data.humdata.org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E1F2"/>
                </a:solidFill>
                <a:latin typeface="Calibri"/>
              </a:rPr>
              <a:t>SEPO PERRY-BRADLEY DINGA  |  CT23A145  |  CEC 420  |  University of Buea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9E1F2"/>
                </a:solidFill>
                <a:latin typeface="Calibri"/>
              </a:rPr>
              <a:t>GitHub: Cameroon Malnutrition Atlas  |  Built with Python 3.11 + Next.js 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E1F2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