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265176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9E1F2"/>
                </a:solidFill>
                <a:latin typeface="Calibri"/>
              </a:rPr>
              <a:t>UNIVERSITY OF BUEA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9E1F2"/>
                </a:solidFill>
                <a:latin typeface="Calibri"/>
              </a:rPr>
              <a:t>Department of Computer Engineering –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 Light"/>
              </a:rPr>
              <a:t>CAMEROON MALNUTRITION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9E1F2"/>
                </a:solidFill>
                <a:latin typeface="Calibri"/>
              </a:rPr>
              <a:t>A Data Mining Approach to Predicting and Mapping Child Stunting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SEPO PERRY-BRADLEY DINGA  |  CT23A145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9E1F2"/>
                </a:solidFill>
                <a:latin typeface="Calibri"/>
              </a:rPr>
              <a:t>CEC 420 – Data Mining  |  2025 /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3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D9E1F2"/>
                </a:solidFill>
                <a:latin typeface="Calibri"/>
              </a:rPr>
              <a:t>Powered by CRISP-DM  •  XGBoost  •  K-Means  •  Spearman Tests  •  Next.js Webapp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Presentation 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2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45720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893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Introduction &amp; Problem Statement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02536"/>
            <a:ext cx="45720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09397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CRISP-DM Methodology Framework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70632"/>
            <a:ext cx="45720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82549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28620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Data Sources &amp; Dataset Overview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38728"/>
            <a:ext cx="45720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59359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630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Exploratory Data Analysis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06824"/>
            <a:ext cx="45720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3616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39826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Data Preparation &amp; Feature Engineering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074920"/>
            <a:ext cx="45720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12978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166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Regression Modelling — 10 Models Compared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234440"/>
            <a:ext cx="45720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128930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9712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Hypothesis Testing — H1 through H6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002536"/>
            <a:ext cx="45720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209397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Classification — WHO Risk Bands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770632"/>
            <a:ext cx="45720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82549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8620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Clustering Analysis — K-Means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538728"/>
            <a:ext cx="45720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359359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9712" y="3630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Forecasting to 2026 / 2028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4306824"/>
            <a:ext cx="45720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43616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439826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Hotspot Rankings &amp; Deployment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5074920"/>
            <a:ext cx="45720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512978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5166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libri"/>
              </a:rPr>
              <a:t>Key Findings &amp; Recommendations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The Challenge: Child Stunting in Cameroon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3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2560320" cy="137160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3444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 Light"/>
              </a:rPr>
              <a:t>29%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National Stunting Rate
(DHS 2018)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143000"/>
            <a:ext cx="2560320" cy="13716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23444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 Light"/>
              </a:rPr>
              <a:t>37.9%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Far North Region
(Highest, 2018)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143000"/>
            <a:ext cx="2560320" cy="137160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123444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 Light"/>
              </a:rPr>
              <a:t>15.4%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Littoral Region
(Lowest, 2018)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1143000"/>
            <a:ext cx="2560320" cy="13716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123444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 Light"/>
              </a:rPr>
              <a:t>22.5pp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North–South Gap
(Percentage Points)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743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366"/>
                </a:solidFill>
                <a:latin typeface="Calibri"/>
              </a:rPr>
              <a:t>Why does this matter?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10896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▸ Stunting in the first 1,000 days causes irreversible cognitive deficits and perpetuates intergenerational poverty.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▸ The national 29% average conceals a 22.5 pp north-south gap — resources must be geographically targeted.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▸ The Ministry of Public Health needs a principled, data-driven method for prioritising districts.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1F1F"/>
                </a:solidFill>
                <a:latin typeface="Calibri"/>
              </a:rPr>
              <a:t>▸ This project builds the 'Cameroon Malnutrition Atlas' — a CRISP-DM pipeline that produces ranked targeting intelligence.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CRISP-DM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Cross-Industry Standard Process for Data Mining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4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3383280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325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Phase 1: Business
Understanding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828800"/>
            <a:ext cx="3383280" cy="173736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Define targets, hypotheses H1-H6, success criteria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280160"/>
            <a:ext cx="3383280" cy="54864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1325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Phase 2: Data
Understanding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1828800"/>
            <a:ext cx="3383280" cy="173736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6596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Source DHS/MICS, WHO, HDX datasets — 50 obs × 20 cols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1280160"/>
            <a:ext cx="3383280" cy="5486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1325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Phase 3: Data
Preparation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828800"/>
            <a:ext cx="3383280" cy="173736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96596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Clean, impute, engineer 4 composite features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749039"/>
            <a:ext cx="3383280" cy="54864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7947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Phase 4: Modelling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297679"/>
            <a:ext cx="3383280" cy="173736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43484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10 regression + 2 classification + K-Means + linear forecast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3749039"/>
            <a:ext cx="3383280" cy="548640"/>
          </a:xfrm>
          <a:prstGeom prst="rect">
            <a:avLst/>
          </a:prstGeom>
          <a:solidFill>
            <a:srgbClr val="C050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60520" y="37947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Phase 5: Evaluation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4297679"/>
            <a:ext cx="3383280" cy="173736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443484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5-fold CV, hypothesis tests, business criteria check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749039"/>
            <a:ext cx="3383280" cy="54864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7947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Phase 6: Deployment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4297679"/>
            <a:ext cx="3383280" cy="173736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4434840"/>
            <a:ext cx="3154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Hotspot CSV + best_model.joblib + Next.js web 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237743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366"/>
                </a:solidFill>
                <a:latin typeface="Calibri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237743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366"/>
                </a:solidFill>
                <a:latin typeface="Calibri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4846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366"/>
                </a:solidFill>
                <a:latin typeface="Calibri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800" y="4846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366"/>
                </a:solidFill>
                <a:latin typeface="Calibri"/>
              </a:rPr>
              <a:t>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Five Datasets from HDX / DHS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5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5577840" cy="150876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80160"/>
            <a:ext cx="228600" cy="150876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8988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DHS / MICS Surveys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755648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Stunting, wasting, maternal health, WASH
5 waves: 1991, 1998, 2004, 2011, 2018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5577840" cy="150876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228600" cy="1508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138988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WHO Health Indicators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1755648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Malaria prevalence, child anaemia, health insurance
Matched to survey years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971800"/>
            <a:ext cx="5577840" cy="150876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971800"/>
            <a:ext cx="228600" cy="150876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815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Cameroon Admin Boundaries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47288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GeoJSON for choropleth visualisation
10 administrative regions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971800"/>
            <a:ext cx="5577840" cy="150876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2971800"/>
            <a:ext cx="228600" cy="15087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79" y="30815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Health Facility Locations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79" y="3447288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OpenStreetMap facility counts per region
Current coverage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754880"/>
            <a:ext cx="5577840" cy="150876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0" y="4754880"/>
            <a:ext cx="228600" cy="150876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0440" y="4864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Population Density Maps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230368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95959"/>
                </a:solidFill>
                <a:latin typeface="Calibri"/>
              </a:rPr>
              <a:t>WorldPop 2020 high-resolution rasters
Regional population weighting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0080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Calibri"/>
              </a:rPr>
              <a:t>→  All sources publicly available from HDX (data.humdata.org) — no DUA required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Dataset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Analysis-Ready Wide Table: 50 rows × 20 columns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6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691640" cy="118872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61872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74519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Region-Year
Observations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1188720"/>
            <a:ext cx="1691640" cy="118872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0" y="1261872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1874519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Cameroon
Regions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88720"/>
            <a:ext cx="1691640" cy="118872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0" y="1261872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1874519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Survey
Waves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188720"/>
            <a:ext cx="1691640" cy="11887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1261872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74519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Raw
Features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1188720"/>
            <a:ext cx="1691640" cy="11887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1261872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1874519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Engineered
Features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1188720"/>
            <a:ext cx="1691640" cy="11887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1261872"/>
            <a:ext cx="1691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1874519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Target
(stunting_rate)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2606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Feature Groups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017520"/>
            <a:ext cx="3657600" cy="34747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79" y="3054096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Maternal Education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" y="3401568"/>
            <a:ext cx="3520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women_secondary_plus_pct
women_literate_pct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3017520"/>
            <a:ext cx="3657600" cy="34747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79" y="3054096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79" y="3401568"/>
            <a:ext cx="3520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improved_water_pct
improved_sanitation_pct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92440" y="3017520"/>
            <a:ext cx="3657600" cy="34747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79" y="3054096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Healthcare Access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79" y="3401568"/>
            <a:ext cx="3520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antenatal_4plus_pct
skilled_birth_attendance_pct
health_facility_delivery_pct
health_insurance_any_pct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663440"/>
            <a:ext cx="3657600" cy="34747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79" y="4700016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Disease Burden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79" y="5047488"/>
            <a:ext cx="3520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malaria_prevalence_pct
child_anemia_pct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4663440"/>
            <a:ext cx="3657600" cy="34747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4700016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Nutrition Siblings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79" y="5047488"/>
            <a:ext cx="3520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wasting_pct
underweight_pct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92440" y="4663440"/>
            <a:ext cx="3657600" cy="34747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83879" y="4700016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Engineered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3879" y="5047488"/>
            <a:ext cx="3520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wash_composite
maternal_health_score
education_score
disease_burden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Target Distribution — Stunting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7 / 22</a:t>
            </a:r>
          </a:p>
        </p:txBody>
      </p:sp>
      <p:pic>
        <p:nvPicPr>
          <p:cNvPr id="9" name="Picture 8" descr="01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94360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71500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Figure 1: Distribution of Stunting Rate (all 50 region-year obs.)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188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366"/>
                </a:solidFill>
                <a:latin typeface="Calibri"/>
              </a:rPr>
              <a:t>Key Observations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60020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▸ Range: 15.4% (Littoral 2018) → 45.7% (Far North peak)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▸ Mean ≈ 30% — at the WHO 'high' risk threshold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▸ ~40% of observations exceed the 30% WHO action level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▸ Slight right skew — extreme northern observations pull the tail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▸ Clear bimodal tendency: northern cluster (35-40%) vs southern cluster (20-25%)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4937760"/>
            <a:ext cx="5212080" cy="7315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5029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3366"/>
                </a:solidFill>
                <a:latin typeface="Calibri"/>
              </a:rPr>
              <a:t>WHO Risk Thresholds:  Low &lt; 20%  |  Medium 20–29%  |  High 30–39%  |  Critical ≥ 40%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Regional Patterns — North-South Gradient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8 / 22</a:t>
            </a:r>
          </a:p>
        </p:txBody>
      </p:sp>
      <p:pic>
        <p:nvPicPr>
          <p:cNvPr id="9" name="Picture 8" descr="02_region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713232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715000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Figure 2: Stunting Rate by Region (median-sorted boxplot, 1991–2018)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188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366"/>
                </a:solidFill>
                <a:latin typeface="Calibri"/>
              </a:rPr>
              <a:t>North-South Gradient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691640"/>
            <a:ext cx="3200400" cy="41148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1691640"/>
            <a:ext cx="164592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17465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Far North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174650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0000"/>
                </a:solidFill>
                <a:latin typeface="Calibri"/>
              </a:rPr>
              <a:t>37.9%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2194560"/>
            <a:ext cx="3200400" cy="41148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2194560"/>
            <a:ext cx="164592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24942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North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224942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0000"/>
                </a:solidFill>
                <a:latin typeface="Calibri"/>
              </a:rPr>
              <a:t>37.2%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2697480"/>
            <a:ext cx="3200400" cy="41148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2697480"/>
            <a:ext cx="164592" cy="41148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27523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Adamawa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27523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7900"/>
                </a:solidFill>
                <a:latin typeface="Calibri"/>
              </a:rPr>
              <a:t>36.5%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3200400"/>
            <a:ext cx="3200400" cy="41148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0" y="3200400"/>
            <a:ext cx="164592" cy="41148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325526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East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325526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7900"/>
                </a:solidFill>
                <a:latin typeface="Calibri"/>
              </a:rPr>
              <a:t>32.1%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3703320"/>
            <a:ext cx="3200400" cy="41148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0" y="3703320"/>
            <a:ext cx="164592" cy="41148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75818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West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375818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F75B5"/>
                </a:solidFill>
                <a:latin typeface="Calibri"/>
              </a:rPr>
              <a:t>27.4%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0" y="4206240"/>
            <a:ext cx="3200400" cy="41148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0" y="4206240"/>
            <a:ext cx="164592" cy="41148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4261103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Centre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4261103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8000"/>
                </a:solidFill>
                <a:latin typeface="Calibri"/>
              </a:rPr>
              <a:t>21.8%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4709160"/>
            <a:ext cx="3200400" cy="41148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0" y="4709160"/>
            <a:ext cx="164592" cy="41148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1000" y="476402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Littoral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476402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8000"/>
                </a:solidFill>
                <a:latin typeface="Calibri"/>
              </a:rPr>
              <a:t>15.4%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5349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0000"/>
                </a:solidFill>
                <a:latin typeface="Calibri"/>
              </a:rPr>
              <a:t>⬆ Critical / High risk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56235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8000"/>
                </a:solidFill>
                <a:latin typeface="Calibri"/>
              </a:rPr>
              <a:t>⬇ Low risk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Correlation Heatmap — Feature Relationships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9 / 22</a:t>
            </a:r>
          </a:p>
        </p:txBody>
      </p:sp>
      <p:pic>
        <p:nvPicPr>
          <p:cNvPr id="9" name="Picture 8" descr="03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858000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80644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Figure 3: Spearman Correlation Heatmap (features vs stunting rate)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1887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Top Correlations with Stunting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1645920"/>
            <a:ext cx="4389120" cy="5029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71907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1F1F"/>
                </a:solidFill>
                <a:latin typeface="Calibri"/>
              </a:rPr>
              <a:t>health_facility_delivery_pct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171907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00000"/>
                </a:solidFill>
                <a:latin typeface="Calibri"/>
              </a:rPr>
              <a:t>ρ = −0.78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2240280"/>
            <a:ext cx="4389120" cy="5029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231343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1F1F"/>
                </a:solidFill>
                <a:latin typeface="Calibri"/>
              </a:rPr>
              <a:t>SES proxy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231343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00000"/>
                </a:solidFill>
                <a:latin typeface="Calibri"/>
              </a:rPr>
              <a:t>ρ = −0.71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2834640"/>
            <a:ext cx="4389120" cy="5029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290779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1F1F"/>
                </a:solidFill>
                <a:latin typeface="Calibri"/>
              </a:rPr>
              <a:t>women_secondary_plus_pct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90779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7900"/>
                </a:solidFill>
                <a:latin typeface="Calibri"/>
              </a:rPr>
              <a:t>ρ = −0.54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3429000"/>
            <a:ext cx="4389120" cy="5029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350215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1F1F"/>
                </a:solidFill>
                <a:latin typeface="Calibri"/>
              </a:rPr>
              <a:t>wash_composite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69880" y="350215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7900"/>
                </a:solidFill>
                <a:latin typeface="Calibri"/>
              </a:rPr>
              <a:t>ρ = −0.50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4023360"/>
            <a:ext cx="4389120" cy="5029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5240" y="409651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1F1F"/>
                </a:solidFill>
                <a:latin typeface="Calibri"/>
              </a:rPr>
              <a:t>malaria_prevalence_pct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409651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F75B5"/>
                </a:solidFill>
                <a:latin typeface="Calibri"/>
              </a:rPr>
              <a:t>ρ = +0.36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79" y="4617720"/>
            <a:ext cx="4389120" cy="5029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5240" y="469087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1F1F"/>
                </a:solidFill>
                <a:latin typeface="Calibri"/>
              </a:rPr>
              <a:t>child_anemia_pct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69880" y="4690872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F75B5"/>
                </a:solidFill>
                <a:latin typeface="Calibri"/>
              </a:rPr>
              <a:t>ρ = +0.29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548640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3366"/>
                </a:solidFill>
                <a:latin typeface="Calibri"/>
              </a:rPr>
              <a:t>→ Healthcare access is the dominant correlate
   Education &amp; WASH follow closely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Data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Cleaning → Imputation → Feature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10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34440"/>
            <a:ext cx="640080" cy="6858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32588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234440"/>
            <a:ext cx="10789920" cy="6858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27101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1  Type Coercion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158191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Cast all % columns to float64; year to 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103120"/>
            <a:ext cx="640080" cy="6858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19456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2103120"/>
            <a:ext cx="10789920" cy="6858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213969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2  De-duplication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450591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Resolve duplicate region-year-indicator rows from overlapping survey rounds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971800"/>
            <a:ext cx="640080" cy="6858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06324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2971800"/>
            <a:ext cx="10789920" cy="6858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300837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3  Name Normalisation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31927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Lookup table maps 25+ DHS region label variants to 10 canonical names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40479"/>
            <a:ext cx="640080" cy="6858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931919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1560" y="3840479"/>
            <a:ext cx="10789920" cy="6858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3877055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4  Mega-region Expansion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187951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1991/1998 large regions broadcast to all constituent sub-regions (flagged as imputed)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709160"/>
            <a:ext cx="640080" cy="6858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4800600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1560" y="4709160"/>
            <a:ext cx="10789920" cy="6858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474573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5  Missing Value Imputation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056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Level 1: region-year median  →  Level 2: global median for remaining gaps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5715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Engineered Features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053328"/>
            <a:ext cx="2651760" cy="50292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79" y="6080760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wash_composite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79" y="629107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9E1F2"/>
                </a:solidFill>
                <a:latin typeface="Calibri"/>
              </a:rPr>
              <a:t>Mean(improved_water, improved_sanitation)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54680" y="6053328"/>
            <a:ext cx="2651760" cy="50292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46120" y="6080760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maternal_health_score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629107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9E1F2"/>
                </a:solidFill>
                <a:latin typeface="Calibri"/>
              </a:rPr>
              <a:t>Mean(antenatal_4plus, skilled_birth, facility_delivery)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89320" y="6053328"/>
            <a:ext cx="2651760" cy="50292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59" y="6080760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education_score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59" y="629107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9E1F2"/>
                </a:solidFill>
                <a:latin typeface="Calibri"/>
              </a:rPr>
              <a:t>Mean(literate_pct, secondary_plus_pct)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23960" y="6053328"/>
            <a:ext cx="2651760" cy="50292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15400" y="6080760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disease_burden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15400" y="6291072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D9E1F2"/>
                </a:solidFill>
                <a:latin typeface="Calibri"/>
              </a:rPr>
              <a:t>Mean(malaria_prevalence, child_anemia)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Regression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Ten Models Evaluated with 5-Fold Cross-Validation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11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188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CV RMSE (pp)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188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Bar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600200"/>
            <a:ext cx="5029200" cy="438912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65506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66"/>
                </a:solidFill>
                <a:latin typeface="Calibri"/>
              </a:rPr>
              <a:t>XGBoost 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1600200"/>
            <a:ext cx="3200400" cy="438912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65506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000"/>
                </a:solidFill>
                <a:latin typeface="Calibri"/>
              </a:rPr>
              <a:t>2.87 ± 0.70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9680" y="1691640"/>
            <a:ext cx="1098045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075688"/>
            <a:ext cx="50292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13055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Random Forest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2075688"/>
            <a:ext cx="3200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13055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8000"/>
                </a:solidFill>
                <a:latin typeface="Calibri"/>
              </a:rPr>
              <a:t>3.16 ± 0.93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2167128"/>
            <a:ext cx="1208997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2551176"/>
            <a:ext cx="5029200" cy="438912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60604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Gradient Boosting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2551176"/>
            <a:ext cx="3200400" cy="438912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60604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8000"/>
                </a:solidFill>
                <a:latin typeface="Calibri"/>
              </a:rPr>
              <a:t>3.19 ± 0.74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69680" y="2642616"/>
            <a:ext cx="1220475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026664"/>
            <a:ext cx="50292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LightGBM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3026664"/>
            <a:ext cx="3200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08152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75B5"/>
                </a:solidFill>
                <a:latin typeface="Calibri"/>
              </a:rPr>
              <a:t>3.45 ± 0.88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69680" y="3118104"/>
            <a:ext cx="1319949" cy="27432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3502152"/>
            <a:ext cx="5029200" cy="438912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355701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Decision Tree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3502152"/>
            <a:ext cx="3200400" cy="438912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355701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75B5"/>
                </a:solidFill>
                <a:latin typeface="Calibri"/>
              </a:rPr>
              <a:t>4.12 ± 1.21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69680" y="3593592"/>
            <a:ext cx="1576287" cy="27432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3977639"/>
            <a:ext cx="50292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032503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Ridge Regression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0" y="3977639"/>
            <a:ext cx="3200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032503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7900"/>
                </a:solidFill>
                <a:latin typeface="Calibri"/>
              </a:rPr>
              <a:t>4.67 ± 0.95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69680" y="4069079"/>
            <a:ext cx="1786714" cy="2743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0040" y="4453128"/>
            <a:ext cx="5029200" cy="438912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50799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Lasso Regression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0" y="4453128"/>
            <a:ext cx="3200400" cy="438912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0" y="450799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7900"/>
                </a:solidFill>
                <a:latin typeface="Calibri"/>
              </a:rPr>
              <a:t>4.89 ± 1.03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69680" y="4544568"/>
            <a:ext cx="1870885" cy="2743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0040" y="4928616"/>
            <a:ext cx="50292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9834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Linear Regression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4928616"/>
            <a:ext cx="3200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77840" y="498348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7900"/>
                </a:solidFill>
                <a:latin typeface="Calibri"/>
              </a:rPr>
              <a:t>5.14 ± 1.18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69680" y="5020056"/>
            <a:ext cx="1966533" cy="2743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0040" y="5404104"/>
            <a:ext cx="5029200" cy="438912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54589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K-Nearest Neighbours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0" y="5404104"/>
            <a:ext cx="3200400" cy="438912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77840" y="545896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00000"/>
                </a:solidFill>
                <a:latin typeface="Calibri"/>
              </a:rPr>
              <a:t>5.78 ± 1.44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69680" y="5495544"/>
            <a:ext cx="2211394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0040" y="5879592"/>
            <a:ext cx="50292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5934455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Baseline (mean) ⬇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0" y="5879592"/>
            <a:ext cx="3200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77840" y="5934455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00000"/>
                </a:solidFill>
                <a:latin typeface="Calibri"/>
              </a:rPr>
              <a:t>7.17 ± 1.45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69680" y="5971031"/>
            <a:ext cx="274320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0040" y="64008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000"/>
                </a:solidFill>
                <a:latin typeface="Calibri"/>
              </a:rPr>
              <a:t>XGBoost achieves 60% RMSE improvement over baseline  (p = 0.003)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Regression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Model Leaderboard &amp; Predicted vs Actual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12 / 22</a:t>
            </a:r>
          </a:p>
        </p:txBody>
      </p:sp>
      <p:pic>
        <p:nvPicPr>
          <p:cNvPr id="9" name="Picture 8" descr="06_model_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5852160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623559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Figure 5: 5-Fold CV RMSE — All 10 Models</a:t>
            </a:r>
          </a:p>
        </p:txBody>
      </p:sp>
      <p:pic>
        <p:nvPicPr>
          <p:cNvPr id="11" name="Picture 10" descr="09_predicted_vs_ac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486400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623559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Figure 12: Predicted vs Actual (Hold-out Test Set, XGBoost)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Feature Importance &amp; SHAP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What drives the XGBoost predictions?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13 / 22</a:t>
            </a:r>
          </a:p>
        </p:txBody>
      </p:sp>
      <p:pic>
        <p:nvPicPr>
          <p:cNvPr id="9" name="Picture 8" descr="07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5669280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623559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Figure 6: Top 15 Features — XGBoost Gain Importance</a:t>
            </a:r>
          </a:p>
        </p:txBody>
      </p:sp>
      <p:pic>
        <p:nvPicPr>
          <p:cNvPr id="11" name="Picture 10" descr="08_shap_beeswa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5623559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Figure 7: SHAP Beeswarm — Observation-level 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8064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366"/>
                </a:solidFill>
                <a:latin typeface="Calibri"/>
              </a:rPr>
              <a:t>underweight_pct dominates (~0.78 SHAP)  |  Healthcare + Education + WASH ≈ 60% of remaining importance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Hypothesis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All 6 Null Hypotheses Rejected at p &lt; 0.05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14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361188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533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H1: Maternal Education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783080"/>
            <a:ext cx="3611880" cy="169164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920239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Statistic: ρ = −0.538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86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p = 5.66×10⁻⁵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651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000"/>
                </a:solidFill>
                <a:latin typeface="Calibri"/>
              </a:rPr>
              <a:t>Null rejected 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280160"/>
            <a:ext cx="361188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3533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H2: WASH Composite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1783080"/>
            <a:ext cx="3611880" cy="169164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1920239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Statistic: ρ = −0.501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286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p = 2.12×10⁻⁴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651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000"/>
                </a:solidFill>
                <a:latin typeface="Calibri"/>
              </a:rPr>
              <a:t>Null rejected 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280160"/>
            <a:ext cx="3611880" cy="50292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3533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H3: SES Proxy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1783080"/>
            <a:ext cx="3611880" cy="169164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920239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Statistic: ρ = −0.709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286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p = 8.35×10⁻⁹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651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000"/>
                </a:solidFill>
                <a:latin typeface="Calibri"/>
              </a:rPr>
              <a:t>Null rejected 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749039"/>
            <a:ext cx="36118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82219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H4: Healthcare Access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251959"/>
            <a:ext cx="3611880" cy="169164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389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Statistic: ρ = −0.778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754879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p = 2.84×10⁻¹¹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1206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000"/>
                </a:solidFill>
                <a:latin typeface="Calibri"/>
              </a:rPr>
              <a:t>Null rejected 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6240" y="3749039"/>
            <a:ext cx="3611880" cy="50292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382219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H5: Malaria Prevalence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4251959"/>
            <a:ext cx="3611880" cy="169164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389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Statistic: ρ = +0.358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4754879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p = 1.06×10⁻²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51206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000"/>
                </a:solidFill>
                <a:latin typeface="Calibri"/>
              </a:rPr>
              <a:t>Null rejected 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92440" y="3749039"/>
            <a:ext cx="361188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382219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H6: ML Beats Baseline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2440" y="4251959"/>
            <a:ext cx="3611880" cy="169164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4389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1F1F"/>
                </a:solidFill>
                <a:latin typeface="Calibri"/>
              </a:rPr>
              <a:t>Statistic: −60% RMSE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4754879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p = 0.003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51206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000"/>
                </a:solidFill>
                <a:latin typeface="Calibri"/>
              </a:rPr>
              <a:t>Null rejected 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WHO Risk Band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Assigning Regions to Low / Medium / High / Critical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15 / 22</a:t>
            </a:r>
          </a:p>
        </p:txBody>
      </p:sp>
      <p:pic>
        <p:nvPicPr>
          <p:cNvPr id="9" name="Picture 8" descr="11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5943600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80644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Figure 8: Confusion Matrix — Random Forest Classifier (80% accuracy)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366"/>
                </a:solidFill>
                <a:latin typeface="Calibri"/>
              </a:rPr>
              <a:t>Risk Band Thresholds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691640"/>
            <a:ext cx="5303520" cy="548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1783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Critical  →  Stunting ≥ 40%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331720"/>
            <a:ext cx="5303520" cy="54864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2423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High  →  Stunting 30 – 39%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2971800"/>
            <a:ext cx="5303520" cy="54864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Medium  →  Stunting 20 – 29%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3611879"/>
            <a:ext cx="5303520" cy="54864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3703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Low  →  Stunting &lt; 20%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43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366"/>
                </a:solidFill>
                <a:latin typeface="Calibri"/>
              </a:rPr>
              <a:t>Model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7548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▸ Random Forest: 80% accuracy (best)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▸ Logistic Regression: 73% accuracy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▸ Errors confined to adjacent bands only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F1F1F"/>
                </a:solidFill>
                <a:latin typeface="Calibri"/>
              </a:rPr>
              <a:t>▸ No cross-two-band misclassifications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Clustering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K-Means Discovers Two Distinct Region Archetypes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16 / 22</a:t>
            </a:r>
          </a:p>
        </p:txBody>
      </p:sp>
      <p:pic>
        <p:nvPicPr>
          <p:cNvPr id="9" name="Picture 8" descr="12_elb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5029200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3977639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Figure 9: Elbow Curve — Choosing k=2</a:t>
            </a:r>
          </a:p>
        </p:txBody>
      </p:sp>
      <p:pic>
        <p:nvPicPr>
          <p:cNvPr id="11" name="Picture 10" descr="13_clusters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188720"/>
            <a:ext cx="6400800" cy="274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77840" y="3977639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Figure 10: Clusters in PCA Space (k=2, silhouette=0.52)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416052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Cluster Profiles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572000"/>
            <a:ext cx="566928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6177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Cluster 0: Northern-rural (Critical Risk)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983480"/>
            <a:ext cx="5669280" cy="9144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047488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Far North, North, Adamawa, East
Women Secondary+: 1.9%  |  Literate: 43.6%  |  Stunting: 37.0%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572000"/>
            <a:ext cx="5669280" cy="41148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6177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Cluster 1: Urban-affluent (Low Risk)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983480"/>
            <a:ext cx="5669280" cy="9144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5047488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Centre, Littoral, South, West, North-West, South-West
Women Secondary+: 10.3%  |  Literate: 87.2%  |  Stunting: 23.6%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Forecasting to 2026 / 2028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Linear Time-Trend Extrapolation per Region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17 / 22</a:t>
            </a:r>
          </a:p>
        </p:txBody>
      </p:sp>
      <p:pic>
        <p:nvPicPr>
          <p:cNvPr id="9" name="Picture 8" descr="14_forecasts_top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6858000" cy="466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897879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Figure 11: Stunting Rate Forecasts — Top 5 Hotspot Regions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1887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366"/>
                </a:solidFill>
                <a:latin typeface="Calibri"/>
              </a:rPr>
              <a:t>Forecast Summary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691640"/>
            <a:ext cx="4480560" cy="7315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691640"/>
            <a:ext cx="182880" cy="7315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"/>
              </a:rPr>
              <a:t>Far North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07568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Now: 37.9%  →  2026: 37.8%  →  2028: 37.6%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2514600"/>
            <a:ext cx="4480560" cy="7315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2514600"/>
            <a:ext cx="182880" cy="7315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25603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"/>
              </a:rPr>
              <a:t>North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89864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Now: 37.2%  →  2026: 37.1%  →  2028: 36.9%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3337560"/>
            <a:ext cx="4480560" cy="7315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3337560"/>
            <a:ext cx="182880" cy="7315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3383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"/>
              </a:rPr>
              <a:t>Adamawa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72160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Now: 36.5%  →  2026: 36.3%  →  2028: 36.1%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160520"/>
            <a:ext cx="4480560" cy="7315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06640" y="4160520"/>
            <a:ext cx="182880" cy="7315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1F1F"/>
                </a:solidFill>
                <a:latin typeface="Calibri"/>
              </a:rPr>
              <a:t>Littoral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54456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Now: 15.4%  →  2026: 15.3%  →  2028: 15.0%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06640" y="5120640"/>
            <a:ext cx="4480560" cy="685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79" y="5166360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Far North remains in 'high' WHO band through 2028+
at current improvement rate of −0.09 pp/year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Hotspot Rankings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Ranked Targeting Intelligence for Ministry of Public Health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18 / 22</a:t>
            </a:r>
          </a:p>
        </p:txBody>
      </p:sp>
      <p:pic>
        <p:nvPicPr>
          <p:cNvPr id="9" name="Picture 8" descr="10_hotspots_to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88720"/>
            <a:ext cx="5943600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80644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Figure 13: Top 15 Predicted Stunting Hotspots (2018, XGBoost scores)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Top Hotspot Regions (2018)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664208"/>
            <a:ext cx="36576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1907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1664208"/>
            <a:ext cx="4846320" cy="4572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17190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Far North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171907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Calibri"/>
              </a:rPr>
              <a:t>37.9%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171907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0000"/>
                </a:solidFill>
                <a:latin typeface="Calibri"/>
              </a:rPr>
              <a:t>Critical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2203704"/>
            <a:ext cx="36576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25856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2203704"/>
            <a:ext cx="4846320" cy="4572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14032" y="22585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North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225856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Calibri"/>
              </a:rPr>
              <a:t>37.2%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22585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0000"/>
                </a:solidFill>
                <a:latin typeface="Calibri"/>
              </a:rPr>
              <a:t>Critical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2743200"/>
            <a:ext cx="365760" cy="4572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279806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95160" y="2743200"/>
            <a:ext cx="4846320" cy="4572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14032" y="279806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Adamawa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2798064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7900"/>
                </a:solidFill>
                <a:latin typeface="Calibri"/>
              </a:rPr>
              <a:t>36.5%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279806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7900"/>
                </a:solidFill>
                <a:latin typeface="Calibri"/>
              </a:rPr>
              <a:t>High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3282696"/>
            <a:ext cx="365760" cy="4572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33756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95160" y="3282696"/>
            <a:ext cx="4846320" cy="4572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4032" y="33375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East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4040" y="333756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7900"/>
                </a:solidFill>
                <a:latin typeface="Calibri"/>
              </a:rPr>
              <a:t>32.1%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33375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7900"/>
                </a:solidFill>
                <a:latin typeface="Calibri"/>
              </a:rPr>
              <a:t>High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3822191"/>
            <a:ext cx="365760" cy="45720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3877055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95160" y="3822191"/>
            <a:ext cx="4846320" cy="4572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14032" y="3877055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North West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4040" y="3877055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75B5"/>
                </a:solidFill>
                <a:latin typeface="Calibri"/>
              </a:rPr>
              <a:t>29.8%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3877055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F75B5"/>
                </a:solidFill>
                <a:latin typeface="Calibri"/>
              </a:rPr>
              <a:t>Medium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4361688"/>
            <a:ext cx="365760" cy="45720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4416551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5160" y="4361688"/>
            <a:ext cx="4846320" cy="4572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14032" y="4416551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South West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64040" y="4416551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75B5"/>
                </a:solidFill>
                <a:latin typeface="Calibri"/>
              </a:rPr>
              <a:t>28.3%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416551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F75B5"/>
                </a:solidFill>
                <a:latin typeface="Calibri"/>
              </a:rPr>
              <a:t>Medium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0" y="4901184"/>
            <a:ext cx="365760" cy="45720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0" y="495604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95160" y="4901184"/>
            <a:ext cx="4846320" cy="45720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14032" y="4956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West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4040" y="495604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75B5"/>
                </a:solidFill>
                <a:latin typeface="Calibri"/>
              </a:rPr>
              <a:t>27.4%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495604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F75B5"/>
                </a:solidFill>
                <a:latin typeface="Calibri"/>
              </a:rPr>
              <a:t>Medium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Client-Side Web Application + Offline Artefacts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19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366"/>
                </a:solidFill>
                <a:latin typeface="Calibri"/>
              </a:rPr>
              <a:t>Web Application — 10 Interactive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645920"/>
            <a:ext cx="7589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▸ Home — KPIs, H1-H6 hypothesis strip, top-10 hotspots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▸ Hotspots — Choropleth map of Cameroon + ranked table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▸ Regression — Interactive model leaderboard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▸ Classification — Confusion matrix + per-class F1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▸ Clustering — Cluster profiles + silhouette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▸ Forecasts — Per-region trends + 2026/2028 projections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▸ Hypotheses — H1-H6 cards with test statistics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▸ Data Explorer — Filterable table (all 50 obs.)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▸ What-If Predictor — Client-side inference (no server needed)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1F1F"/>
                </a:solidFill>
                <a:latin typeface="Calibri"/>
              </a:rPr>
              <a:t>▸ Region Drill-down — Full profile per region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366"/>
                </a:solidFill>
                <a:latin typeface="Calibri"/>
              </a:rPr>
              <a:t>Tech Stack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664208"/>
            <a:ext cx="3657600" cy="50292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7373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Next.js 16 + React 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258568"/>
            <a:ext cx="3657600" cy="5029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3317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TypeScript + Tailwind CSS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852928"/>
            <a:ext cx="3657600" cy="5029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9260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Redux Toolkit (state)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3447288"/>
            <a:ext cx="36576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5204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Plotly.js (charts)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4041648"/>
            <a:ext cx="365760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1148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predict.ts (client inference)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4636008"/>
            <a:ext cx="3657600" cy="50292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47091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predictor.json (model export)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5623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3366"/>
                </a:solidFill>
                <a:latin typeface="Calibri"/>
              </a:rPr>
              <a:t>→ Offline-capable: no server call for predictions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Five Evidence-Based Conclusions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20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55778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441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1. North-South Gradient is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737360"/>
            <a:ext cx="5577840" cy="14173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47088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Far North (37.9%), North (37.2%), Adamawa (36.5%) consistently dominate the hotspot list across all survey waves. The gap with southern regions exceeds 22 pp.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55778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441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2. Healthcare Access Dominates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737360"/>
            <a:ext cx="5577840" cy="14173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47088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The strongest correlate of stunting is healthcare access (ρ = −0.78, p &lt; 10⁻¹⁰). Improving facility delivery and antenatal care is the highest-leverage single intervention.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429000"/>
            <a:ext cx="5577840" cy="45720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4930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3. ML Beats Baseline by 60%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886200"/>
            <a:ext cx="5577840" cy="14173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995928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XGBoost achieves CV RMSE = 2.87 pp vs baseline 7.17 pp (p = 0.003), validating machine-learning for subnational malnutrition prediction.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429000"/>
            <a:ext cx="5577840" cy="4572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4930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4. Two Distinct Clusters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886200"/>
            <a:ext cx="5577840" cy="14173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95928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K-Means (k=2, silhouette=0.52) finds a critical northern cluster (37% stunting) and a low-risk southern cluster (24%). Bundle interventions are needed in the north.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120640"/>
            <a:ext cx="11430000" cy="45720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18464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5. Insufficient Improvement 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577840"/>
            <a:ext cx="11430000" cy="141732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687568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Linear forecasts show northern regions remain in WHO 'high'/'critical' band through 2028+. Accelerated, multi-sectoral action is urgently needed.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Conclusions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9E1F2"/>
                </a:solidFill>
                <a:latin typeface="Calibri"/>
              </a:rPr>
              <a:t>Action Plan for the Ministry of Public Health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E1F2"/>
                </a:solidFill>
                <a:latin typeface="Calibri"/>
              </a:rPr>
              <a:t>Cameroon Malnutrition Atlas  |  CEC 420  |  SEPO PERRY-BRADLEY DINGA  |  CT23A145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601968"/>
            <a:ext cx="594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21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366"/>
                </a:solidFill>
                <a:latin typeface="Calibri"/>
              </a:rPr>
              <a:t>Policy Recommendations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320040" cy="77724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8288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664208"/>
            <a:ext cx="11155680" cy="77724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0992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900"/>
                </a:solidFill>
                <a:latin typeface="Calibri"/>
              </a:rPr>
              <a:t>Priority Targeting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075688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Concentrate first-wave investments on Far North, North, and Adamawa — all three appear in top-3 across every analytical lens.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560320"/>
            <a:ext cx="320040" cy="77724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724912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560320"/>
            <a:ext cx="11155680" cy="77724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606039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75B5"/>
                </a:solidFill>
                <a:latin typeface="Calibri"/>
              </a:rPr>
              <a:t>Bundle Interventions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9718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Cluster analysis shows high-risk regions suffer simultaneous deficits in education, WASH, and healthcare. Single-sector approaches are insufficient.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456432"/>
            <a:ext cx="320040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621024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456432"/>
            <a:ext cx="11155680" cy="77724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5021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Monitor Improvement Velocity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86791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Regions with the slowest improvement slopes should receive disproportionately higher investment to close the north-south gap.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352544"/>
            <a:ext cx="320040" cy="77724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4517136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352544"/>
            <a:ext cx="11155680" cy="77724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39826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000"/>
                </a:solidFill>
                <a:latin typeface="Calibri"/>
              </a:rPr>
              <a:t>Use the What-If Predictor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764024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Train district health officers to simulate the impact of coverage improvements before committing intervention budgets.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248656"/>
            <a:ext cx="320040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5413248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248656"/>
            <a:ext cx="11155680" cy="777240"/>
          </a:xfrm>
          <a:prstGeom prst="rect">
            <a:avLst/>
          </a:prstGeom>
          <a:solidFill>
            <a:srgbClr val="D9E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2943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Update with 2024/2025 DHS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660136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1F1F"/>
                </a:solidFill>
                <a:latin typeface="Calibri"/>
              </a:rPr>
              <a:t>Re-run the pipeline when the next DHS wave is published to validate forecasts and re-rank hotspots.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2286000"/>
          </a:xfrm>
          <a:prstGeom prst="rect">
            <a:avLst/>
          </a:prstGeom>
          <a:solidFill>
            <a:srgbClr val="1F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49424"/>
            <a:ext cx="12188952" cy="7315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35424"/>
            <a:ext cx="12188952" cy="7315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234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D9E1F2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Selected 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4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9E1F2"/>
                </a:solidFill>
                <a:latin typeface="Calibri"/>
              </a:rPr>
              <a:t>[1] DHS Program. (2018). Cameroon DHS 2018. ICF International.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15468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9E1F2"/>
                </a:solidFill>
                <a:latin typeface="Calibri"/>
              </a:rPr>
              <a:t>[2] Chen &amp; Guestrin. (2016). XGBoost. KDD '16.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4747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9E1F2"/>
                </a:solidFill>
                <a:latin typeface="Calibri"/>
              </a:rPr>
              <a:t>[3] Chapman et al. (2000). CRISP-DM 1.0. SPSS Inc.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79476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9E1F2"/>
                </a:solidFill>
                <a:latin typeface="Calibri"/>
              </a:rPr>
              <a:t>[4] WHO. (2014). Global Nutrition Targets 2025. WHO.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11480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9E1F2"/>
                </a:solidFill>
                <a:latin typeface="Calibri"/>
              </a:rPr>
              <a:t>[5] Humanitarian Data Exchange. (2024). data.humdata.org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48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9E1F2"/>
                </a:solidFill>
                <a:latin typeface="Calibri"/>
              </a:rPr>
              <a:t>SEPO PERRY-BRADLEY DINGA  |  CT23A145  |  CEC 420  |  University of Buea  |  June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206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D9E1F2"/>
                </a:solidFill>
                <a:latin typeface="Calibri"/>
              </a:rPr>
              <a:t>GitHub: Cameroon Malnutrition Atlas  |  Built with Python 3.11 + Next.js 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9E1F2"/>
                </a:solidFill>
                <a:latin typeface="Calibri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